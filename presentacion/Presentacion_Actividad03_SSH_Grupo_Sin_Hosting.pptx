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2f75a5ae-f0a7-8058-c372-ea746bfd9bf6}">
          <p14:sldIdLst>
            <p14:sldId id="256"/>
          </p14:sldIdLst>
        </p14:section>
        <p14:section name="Entorno" id="{4fa70854-8efe-07bc-5a91-1d162a79b436}">
          <p14:sldIdLst>
            <p14:sldId id="257"/>
          </p14:sldIdLst>
        </p14:section>
        <p14:section name="Laboratorio 9" id="{aec7bea9-7dde-3fb3-6644-7a7b18a69dbc}">
          <p14:sldIdLst>
            <p14:sldId id="258"/>
            <p14:sldId id="259"/>
          </p14:sldIdLst>
        </p14:section>
        <p14:section name="Laboratorio 10" id="{ef176407-99cf-9fb0-c2f9-5b3ebb4945b2}">
          <p14:sldIdLst>
            <p14:sldId id="260"/>
            <p14:sldId id="261"/>
            <p14:sldId id="262"/>
          </p14:sldIdLst>
        </p14:section>
        <p14:section name="Laboratorio 11" id="{65eb404c-e6a0-cfa1-0124-fa37f44b3599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Resultados" id="{c3fd80b8-a342-4004-8473-110187bdc70d}">
          <p14:sldIdLst>
            <p14:sldId id="269"/>
          </p14:sldIdLst>
        </p14:section>
        <p14:section name="Cierre" id="{d6117a83-65aa-ceba-4a6e-ea6a4720c714}">
          <p14:sldIdLst>
            <p14:sldId id="270"/>
            <p14:sldId id="271"/>
          </p14:sldIdLst>
        </p14:section>
        <p14:section name="Final" id="{ce297861-f431-dd06-f5b6-5cdc4ceec8eb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 la actividad: demostrar con evidencia la diferencia de seguridad entre TELNET y SSH y dejar el servidor de la organización accesible solo por SSH endurecido. Como base, el DNS con vistas y DNSSEC (Lab 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LUCAS. El técnico anterior usaba TELNET. El servidor srv-horizonte (contenedor Docker, Ubuntu 24.04, OpenSSH 9.6p1) saldrá a internet. Hacia fuera Docker solo publica SSH en el puerto 2222 (más 8080/8443 web). La red red_dns tiene ns1 con dos caras (colegio y "internet"). El atacante simulado es un contenedor temporal en la misma red del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LUCAS. Antes, desde externo se veía www.horizonte.internal = 10.10.10.20 y mail = 10.10.10.25: reconocimiento gratis. Vistas en BIND 9.18: gana la primera vista cuyo match-clients coincide; interna (acl red-colegio) antes que externa (any). Con vistas hay que quitar named.conf.default-zones (todas las zonas dentro de vistas).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LUCAS. dnssec-policy horizonte: CSK ECDSA P-256 (algoritmo 13), firmas 14 días renovadas cada 5, NSEC3 0 iteraciones sin sal (RFC 9276). En 9.18 una zona estática exige inline-signing yes. delv con el ancla: fully validated (y NXDOMAIN probado con NSEC3). Ancla con una letra cambiada: broken trust chain. DS 18104 13 2 para el registrador; ds: hidden hasta que se publique. 16/16.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JACQUELINE. Ubuntu instala TELNET desactivado (#&lt;off&gt;# en inetd.conf); se activó solo para la demostración. capturar.sh inicia sesión con la usuaria de prueba secretaria mientras tcpdump graba el puerto 23. En Wireshark, Analizar &gt; Seguir &gt; Flujo TCP: azul el servidor (login:, Password:), rojo el cliente (secretaria, Circular2026). TELNET sigue en routers e impresoras viejos por herencia; hay que aislarlo o reemplazarlo. Al final se desinstaló.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JOSÉ MARÍA. Misma sesión por SSH (puerto 22). En Wireshark solo se lee SSH-2.0-OpenSSH_9.6p1 y la lista de algoritmos; buscar Circular2026 no encuentra nada. Tabla comparativa.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JOSÉ MARÍA. La clave de host decía root@buildkitsandbox: creada al construir la imagen, compartida por todos. Riesgo: suplantar el servidor (MITM). ssh-keygen -A → SHA256:KueRdm7E… root@srv-horizonte. Kex sntrup761x25519-sha512: híbrido post-cuántico (NTRU Prime + X25519), contra "guardar ahora, descifrar después"; cifrado chacha20-poly1305. Si aparece REMOTE HOST IDENTIFICATION HAS CHANGED: detenerse, verificar la huella por otro canal, solo entonces ssh-keygen -R. Nos pasó de verdad en el Lab 11 desde Windows.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LIZETH. 10-horizonte.conf en sshd_config.d: el Include va al principio y en sshd gana el primer valor. Dos sesiones abiertas y sshd -t antes de reiniciar. Puerto: hacia fuera solo 2222 (Docker 2222→22); cambiarlo es una capa extra, la defensa real son claves, AllowGroups y fail2ban. Comentarios siempre en su propia línea (en ForceCommand un # pasaría a ser parte del comando). Banner en ASCII.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LIZETH. Clave ed25519 -a 64: la privada nunca sale del cliente; la pública en authorized_keys (600, .ssh 700). Alias horizonte con IdentitiesOnly. lizeth entra y ve el aviso legal; root y cualquier intento sin clave: Permission denied (publickey); el servidor ni ofrece contraseña. LogLevel VERBOSE registra la huella SHA256:A36M7… de la clave usada.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JUNIORS. scp comunicado.html horizonte:/srv/horizonte/www → dueño lizeth, grupo webadmin (setgid del Lab 2). Cuenta comunicacion (sftp-web): Match Group con ChrootDirectory /srv/horizonte, ForceCommand internal-sftp -d /www -u 0002, sin TTY ni túneles. Archivos 664 grupo webadmin; cd /etc no existe; ssh → sftp connections only. Regla del chroot: la carpeta y sus superiores, de root y no escribibles por el grupo; lo demostramos con chmod g+w → sesión cortada (bad ownership or modes).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JUNIORS. La API eco del Lab 4 solo escucha en 127.0.0.1:8081 del servidor. Desde la PC con Windows (clave propia lizeth-pc-2026 con frase): ssh -N -L 9081:127.0.0.1:8081 -p 2222 lizeth@127.0.0.1 y curl.exe http://127.0.0.1:9081/eco. La API ve "cliente": "127.0.0.1": la petición la hace sshd dentro del servidor. -D 1080: proxy SOCKS dinámico. -J: salto por un bastión.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LIMBER. fail2ban con backend systemd y journalmatch _SYSTEMD_UNIT=ssh.service (en Ubuntu 24.04 la unidad es ssh.service, no sshd.service). 4 fallas en 10 min → 1 h en nftables, creciente (bantime.increment). Ataque desde un contenedor temporal 172.18.0.3, 6 intentos con usuario inexistente, solo contra nuestro servidor. Intentos 1-3: Permission denied; 4-6: Connection refused (reject de nftables). Ban 11:30:25 → Unban 11:46:10 → Ban 11:47:03. 20 fallas, 2 bloqueos. Al final, unbanip.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LIMBER. El journal no tenía mensajes de sshd desde el 24/10. /dev/log era el socket de /usr/sbin/syslogd (inetutils-syslogd), instalado el 23/10 21:56:54 como dependencia de TELNET en el Lab 10; telnet_laboratorio.sh desactivar purgó telnetd pero dejó inetutils-telnetd y syslogd. Sin journal, fail2ban (backend systemd) no ve ataques. Solución: simular purga (apt-get -s), purgar, ln -sf /run/systemd/journal/dev-log /dev/log, reiniciar ssh y fail2ban. Lección: probar la protección, no suponerla.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TODOS. 16/16 Lab 9 (vistas, DNSSEC, NSEC3, delv, DS, monitoreo), 11/11 Lab 10 (capturas, claves de host, ed25519, permisos, kex PQ, scp, TELNET cerrado), 15/15 Lab 11 (sin root, solo claves, AllowGroups, SFTP enjaulado, huella en el registro, fail2ban en nftables, túnel). Problemas resueltos: default-zones sin guardar, serial menor que el del secundario, EOF borrado, permisos 755, /dev/log, huella vieja, LoginGraceTime.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IA (Claude) se usó para explicar opciones, interpretar salidas y formular hipótesis; todo se comprobó con sshd -T, journalctl, ss, dpkg, Wireshark, nft o los verificadores. No se pegaron claves privadas ni .private, no se aceptaron huellas sin verificar, TELNET no quedó activo, el ataque fue solo contra nuestro servidor y sin diccionarios, nunca se desactivó una protección para que funcione.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Orden: Lucas (entorno y Lab 9) → Jacqueline (TELNET) → José María (SSH e identidad) → Lizeth (sshd endurecido) → Juniors (scp, SFTP, túnel) → Limber (fail2ban y hallazgo) → todos (resultados y preguntas).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16/16, 11/11 y 15/15.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F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Actividad 03 · De TELNET a SSH endurecido · Grupo Sin Hosting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rupo-Sin-Hosting/Actividad-03-SSH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TELNET a SSH endurecido en el servidor de la U.E. Horizonte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Actividad 03 · Laboratorios 9, 10 y 11 · Tecnología Web I (SIS-0150)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Grupo Sin Hosting: Jacqueline Cáceres · Lucas Carrasco · José María Orihuela · Juniors Parapaino · Limber Quispe · Lizeth Rodríguez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Docente: M.Sc. Ing. Jimmy Nataniel Requena Llorentty · UPDS · 25/10/2026 · github.com/Grupo-Sin-Hosting/Actividad-03-SSH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escenario: un servidor que sale a internet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Lucas</a:t>
            </a:r>
            <a:endParaRPr lang="en-US" sz="1300" dirty="0"/>
          </a:p>
        </p:txBody>
      </p:sp>
      <p:pic>
        <p:nvPicPr>
          <p:cNvPr id="6" name="Diagrama de arquitectura" descr="Diagrama de arquitectu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863840" cy="3170964"/>
          </a:xfrm>
          <a:prstGeom prst="rect">
            <a:avLst/>
          </a:prstGeom>
        </p:spPr>
      </p:pic>
      <p:sp>
        <p:nvSpPr>
          <p:cNvPr id="7" name="Tarjeta Antes"/>
          <p:cNvSpPr/>
          <p:nvPr/>
        </p:nvSpPr>
        <p:spPr>
          <a:xfrm>
            <a:off x="548640" y="4754880"/>
            <a:ext cx="38404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unto Antes"/>
          <p:cNvSpPr/>
          <p:nvPr/>
        </p:nvSpPr>
        <p:spPr>
          <a:xfrm>
            <a:off x="777240" y="5010912"/>
            <a:ext cx="292608" cy="29260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188720" y="49194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Antes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54406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TELNET "porque era más simple"; DNS revelando nombres internos.</a:t>
            </a:r>
            <a:endParaRPr lang="en-US" sz="1400" dirty="0"/>
          </a:p>
        </p:txBody>
      </p:sp>
      <p:sp>
        <p:nvSpPr>
          <p:cNvPr id="11" name="Tarjeta Ahora"/>
          <p:cNvSpPr/>
          <p:nvPr/>
        </p:nvSpPr>
        <p:spPr>
          <a:xfrm>
            <a:off x="4572000" y="4754880"/>
            <a:ext cx="38404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unto Ahora"/>
          <p:cNvSpPr/>
          <p:nvPr/>
        </p:nvSpPr>
        <p:spPr>
          <a:xfrm>
            <a:off x="4800600" y="5010912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212080" y="49194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Ahora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846320" y="54406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Solo SSH endurecido por 2222, fail2ban y DNS con vistas y DNSSEC.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778240" y="13258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2222</a:t>
            </a:r>
            <a:endParaRPr lang="en-US" sz="5400" dirty="0"/>
          </a:p>
        </p:txBody>
      </p:sp>
      <p:sp>
        <p:nvSpPr>
          <p:cNvPr id="16" name="Text 12"/>
          <p:cNvSpPr txBox="1"/>
          <p:nvPr/>
        </p:nvSpPr>
        <p:spPr>
          <a:xfrm>
            <a:off x="8778240" y="22860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único puerto SSH publicado hacia fuera (Docker 2222→22)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778240" y="32918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18" name="Text 14"/>
          <p:cNvSpPr txBox="1"/>
          <p:nvPr/>
        </p:nvSpPr>
        <p:spPr>
          <a:xfrm>
            <a:off x="8778240" y="4251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puertos TELNET abiertos al terminar (23 cerrado)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9 · El mismo nombre, dos respuestas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Lucas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Antes: desde internet se ven las IP internas</a:t>
            </a:r>
            <a:endParaRPr lang="en-US" sz="1500" dirty="0"/>
          </a:p>
        </p:txBody>
      </p:sp>
      <p:pic>
        <p:nvPicPr>
          <p:cNvPr id="7" name="Fuga de nombres internos" descr="Fuga de nombres intern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120640" cy="1176829"/>
          </a:xfrm>
          <a:prstGeom prst="rect">
            <a:avLst/>
          </a:prstGeom>
        </p:spPr>
      </p:pic>
      <p:graphicFrame>
        <p:nvGraphicFramePr>
          <p:cNvPr id="4" name="Tabla de vist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371600"/>
          <a:ext cx="553212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463040"/>
                <a:gridCol w="1463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Consulta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Colegio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Internet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www.ue-horizonte.example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10.10.10.20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203.0.113.20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intranet.ue-horizonte.example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10.10.10.21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NXDOMAIN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www.horizonte.internal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10.10.10.20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REFUSED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Fondo de código"/>
          <p:cNvSpPr/>
          <p:nvPr/>
        </p:nvSpPr>
        <p:spPr>
          <a:xfrm>
            <a:off x="548640" y="3657600"/>
            <a:ext cx="1110996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31520" y="3767328"/>
            <a:ext cx="10744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acl "red-colegio" { 10.10.10.0/24; 127.0.0.0/8; };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 "interna" { match-clients { "red-colegio"; }; … };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 "externa" { match-clients { any; }; … };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El orden importa: si "any" va primero, atrapa también al colegio.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9 · Una letra rompe la cadena de confianza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Lucas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Ancla correcta: fully validated</a:t>
            </a:r>
            <a:endParaRPr lang="en-US" sz="1500" dirty="0"/>
          </a:p>
        </p:txBody>
      </p:sp>
      <p:pic>
        <p:nvPicPr>
          <p:cNvPr id="7" name="delv validado" descr="delv valid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486400" cy="210769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17220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Una letra cambiada: broken trust chain</a:t>
            </a:r>
            <a:endParaRPr lang="en-US" sz="1500" dirty="0"/>
          </a:p>
        </p:txBody>
      </p:sp>
      <p:pic>
        <p:nvPicPr>
          <p:cNvPr id="9" name="delv con ancla falsa" descr="delv con ancla fals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37360"/>
            <a:ext cx="5486400" cy="147053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48640" y="4343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16</a:t>
            </a:r>
            <a:endParaRPr lang="en-US" sz="44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5303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verificar_lab09.sh</a:t>
            </a:r>
            <a:endParaRPr lang="en-US" sz="1400" dirty="0"/>
          </a:p>
        </p:txBody>
      </p:sp>
      <p:sp>
        <p:nvSpPr>
          <p:cNvPr id="12" name="Tarjeta dnssec-policy"/>
          <p:cNvSpPr/>
          <p:nvPr/>
        </p:nvSpPr>
        <p:spPr>
          <a:xfrm>
            <a:off x="3566160" y="4343400"/>
            <a:ext cx="39319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unto dnssec-policy"/>
          <p:cNvSpPr/>
          <p:nvPr/>
        </p:nvSpPr>
        <p:spPr>
          <a:xfrm>
            <a:off x="3794760" y="459943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206240" y="45079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dnssec-policy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3840480" y="502920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CSK ECDSA P-256 · NSEC3 sin iteraciones ni sal · BIND re-firma solo.</a:t>
            </a:r>
            <a:endParaRPr lang="en-US" sz="1400" dirty="0"/>
          </a:p>
        </p:txBody>
      </p:sp>
      <p:sp>
        <p:nvSpPr>
          <p:cNvPr id="16" name="Tarjeta DS para el registrador"/>
          <p:cNvSpPr/>
          <p:nvPr/>
        </p:nvSpPr>
        <p:spPr>
          <a:xfrm>
            <a:off x="7726680" y="4343400"/>
            <a:ext cx="39319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unto DS para el registrador"/>
          <p:cNvSpPr/>
          <p:nvPr/>
        </p:nvSpPr>
        <p:spPr>
          <a:xfrm>
            <a:off x="7955280" y="459943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366760" y="45079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DS para el registrador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001000" y="502920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18104 13 2 0AD9…  ·  hasta publicarlo: ds hidden.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10 · TELNET: la contraseña viaja en claro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Jacqueline</a:t>
            </a:r>
            <a:endParaRPr lang="en-US" sz="1300" dirty="0"/>
          </a:p>
        </p:txBody>
      </p:sp>
      <p:pic>
        <p:nvPicPr>
          <p:cNvPr id="6" name="Wireshark flujo TCP de TELNET" descr="Wireshark flujo TCP de TELN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589520" cy="46259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412480" y="13258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de 3</a:t>
            </a:r>
            <a:endParaRPr lang="en-US" sz="4800" dirty="0"/>
          </a:p>
        </p:txBody>
      </p:sp>
      <p:sp>
        <p:nvSpPr>
          <p:cNvPr id="8" name="Text 4"/>
          <p:cNvSpPr txBox="1"/>
          <p:nvPr/>
        </p:nvSpPr>
        <p:spPr>
          <a:xfrm>
            <a:off x="8412480" y="22860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datos leídos en claro: usuario, contraseña y texto confidencial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412480" y="324612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Cualquiera en la red ve: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secretaria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Circular2026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notas-confidenciales-5to-B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412480" y="53035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Contraseña de una usuaria creada solo para el laboratorio.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10 · La misma sesión por SSH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José María</a:t>
            </a:r>
            <a:endParaRPr lang="en-US" sz="1300" dirty="0"/>
          </a:p>
        </p:txBody>
      </p:sp>
      <p:pic>
        <p:nvPicPr>
          <p:cNvPr id="6" name="Wireshark flujo TCP de SSH" descr="Wireshark flujo TCP de S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852160" cy="3527805"/>
          </a:xfrm>
          <a:prstGeom prst="rect">
            <a:avLst/>
          </a:prstGeom>
        </p:spPr>
      </p:pic>
      <p:graphicFrame>
        <p:nvGraphicFramePr>
          <p:cNvPr id="7" name="Tabla TELNET vs SSH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371600"/>
          <a:ext cx="4983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2057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TELNET :23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SSH :22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Usuario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Visible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Cifrado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Contraseña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Visible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Cifrado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Lo escrito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Visible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Cifrado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En claro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Todo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Versión y algoritmos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8" name="capturar.sh" descr="capturar.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979" y="5120640"/>
            <a:ext cx="3591482" cy="109728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6675120" y="45720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2"/>
                </a:solidFill>
              </a:rPr>
              <a:t>Misma sesión, mismos datos: con SSH el espía no lee nada.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10 · ¿Con quién estoy hablando?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José María</a:t>
            </a:r>
            <a:endParaRPr lang="en-US" sz="1300" dirty="0"/>
          </a:p>
        </p:txBody>
      </p:sp>
      <p:sp>
        <p:nvSpPr>
          <p:cNvPr id="6" name="Tarjeta Antes"/>
          <p:cNvSpPr/>
          <p:nvPr/>
        </p:nvSpPr>
        <p:spPr>
          <a:xfrm>
            <a:off x="548640" y="137160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Punto Antes"/>
          <p:cNvSpPr/>
          <p:nvPr/>
        </p:nvSpPr>
        <p:spPr>
          <a:xfrm>
            <a:off x="777240" y="1627632"/>
            <a:ext cx="292608" cy="29260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88720" y="15361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Antes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0574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root@buildkitsandbox: la misma "cédula" en todas las copias de la imagen.</a:t>
            </a:r>
            <a:endParaRPr lang="en-US" sz="1400" dirty="0"/>
          </a:p>
        </p:txBody>
      </p:sp>
      <p:sp>
        <p:nvSpPr>
          <p:cNvPr id="10" name="Tarjeta Después"/>
          <p:cNvSpPr/>
          <p:nvPr/>
        </p:nvSpPr>
        <p:spPr>
          <a:xfrm>
            <a:off x="548640" y="3703320"/>
            <a:ext cx="356616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unto Después"/>
          <p:cNvSpPr/>
          <p:nvPr/>
        </p:nvSpPr>
        <p:spPr>
          <a:xfrm>
            <a:off x="777240" y="3959352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88720" y="38679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Después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38912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ssh-keygen -A → SHA256:KueRdm7E… root@srv-horizonte</a:t>
            </a:r>
            <a:endParaRPr lang="en-US" sz="1400" dirty="0"/>
          </a:p>
        </p:txBody>
      </p:sp>
      <p:pic>
        <p:nvPicPr>
          <p:cNvPr id="14" name="Algoritmos negociados" descr="Algoritmos negocia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371600"/>
            <a:ext cx="7269480" cy="176800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389120" y="37490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sntrup761</a:t>
            </a:r>
            <a:endParaRPr lang="en-US" sz="3600" dirty="0"/>
          </a:p>
        </p:txBody>
      </p:sp>
      <p:sp>
        <p:nvSpPr>
          <p:cNvPr id="16" name="Text 12"/>
          <p:cNvSpPr txBox="1"/>
          <p:nvPr/>
        </p:nvSpPr>
        <p:spPr>
          <a:xfrm>
            <a:off x="4389120" y="47091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kex híbrido post-cuántico (NTRU Prime + X25519)</a:t>
            </a:r>
            <a:endParaRPr lang="en-US" sz="1400" dirty="0"/>
          </a:p>
        </p:txBody>
      </p:sp>
      <p:sp>
        <p:nvSpPr>
          <p:cNvPr id="17" name="Tarjeta Huella cambiada"/>
          <p:cNvSpPr/>
          <p:nvPr/>
        </p:nvSpPr>
        <p:spPr>
          <a:xfrm>
            <a:off x="8092440" y="3703320"/>
            <a:ext cx="356616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Punto Huella cambiada"/>
          <p:cNvSpPr/>
          <p:nvPr/>
        </p:nvSpPr>
        <p:spPr>
          <a:xfrm>
            <a:off x="8321040" y="39593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732520" y="38679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Huella cambiada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8366760" y="438912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 borrar known_hosts ni StrictHostKeyChecking=no: verificar por otro canal.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11 · sshd endurecido: antes y después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Lizeth</a:t>
            </a:r>
            <a:endParaRPr lang="en-US" sz="1300" dirty="0"/>
          </a:p>
        </p:txBody>
      </p:sp>
      <p:graphicFrame>
        <p:nvGraphicFramePr>
          <p:cNvPr id="9" name="Tabla antes y despué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474720"/>
                <a:gridCol w="5257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Requisito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Antes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Después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Sin root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without-password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PermitRootLogin no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Sin contraseña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PasswordAuthentication yes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 + AuthenticationMethods publickey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Usuarios permitidos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cualquiera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AllowGroups sshadmins sftp-web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Puerto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2222 → 22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solo 2222 hacia fuera + fail2ban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Criptografía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 kex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sntrup761x25519 primero (3 kex)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Registro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INFO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VERBOSE: huella de la clave usada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623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Regla de oro: dos sesiones abiertas y sshd -t antes de reiniciar.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11 · Solo entra quien tiene la clave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Lizeth</a:t>
            </a:r>
            <a:endParaRPr lang="en-US" sz="1300" dirty="0"/>
          </a:p>
        </p:txBody>
      </p:sp>
      <p:pic>
        <p:nvPicPr>
          <p:cNvPr id="6" name="Pruebas de acceso" descr="Pruebas de acces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035040" cy="3596640"/>
          </a:xfrm>
          <a:prstGeom prst="rect">
            <a:avLst/>
          </a:prstGeom>
        </p:spPr>
      </p:pic>
      <p:sp>
        <p:nvSpPr>
          <p:cNvPr id="7" name="Tarjeta lizeth (sshadmins)"/>
          <p:cNvSpPr/>
          <p:nvPr/>
        </p:nvSpPr>
        <p:spPr>
          <a:xfrm>
            <a:off x="6858000" y="1371600"/>
            <a:ext cx="48006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unto lizeth (sshadmins)"/>
          <p:cNvSpPr/>
          <p:nvPr/>
        </p:nvSpPr>
        <p:spPr>
          <a:xfrm>
            <a:off x="7086600" y="1627632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498080" y="153619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lizeth (sshadmins)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132320" y="20574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Entra con su clave ed25519 y el alias horizonte.</a:t>
            </a:r>
            <a:endParaRPr lang="en-US" sz="1400" dirty="0"/>
          </a:p>
        </p:txBody>
      </p:sp>
      <p:sp>
        <p:nvSpPr>
          <p:cNvPr id="11" name="Tarjeta root y sin clave"/>
          <p:cNvSpPr/>
          <p:nvPr/>
        </p:nvSpPr>
        <p:spPr>
          <a:xfrm>
            <a:off x="6858000" y="3017520"/>
            <a:ext cx="48006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unto root y sin clave"/>
          <p:cNvSpPr/>
          <p:nvPr/>
        </p:nvSpPr>
        <p:spPr>
          <a:xfrm>
            <a:off x="7086600" y="3273552"/>
            <a:ext cx="292608" cy="29260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498080" y="31821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root y sin clave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7132320" y="37033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Permission denied (publickey): ni se ofrece contraseña.</a:t>
            </a:r>
            <a:endParaRPr lang="en-US" sz="1400" dirty="0"/>
          </a:p>
        </p:txBody>
      </p:sp>
      <p:sp>
        <p:nvSpPr>
          <p:cNvPr id="15" name="Tarjeta Registro VERBOSE"/>
          <p:cNvSpPr/>
          <p:nvPr/>
        </p:nvSpPr>
        <p:spPr>
          <a:xfrm>
            <a:off x="6858000" y="4663440"/>
            <a:ext cx="48006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unto Registro VERBOSE"/>
          <p:cNvSpPr/>
          <p:nvPr/>
        </p:nvSpPr>
        <p:spPr>
          <a:xfrm>
            <a:off x="7086600" y="491947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498080" y="48280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Registro VERBOSE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7132320" y="5349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Accepted publickey for lizeth … ED25519 SHA256:A36M7…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53035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La clave privada nunca sale del equipo cliente.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11 · scp y SFTP enjaulado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Juniors</a:t>
            </a:r>
            <a:endParaRPr lang="en-US" sz="1300" dirty="0"/>
          </a:p>
        </p:txBody>
      </p:sp>
      <p:pic>
        <p:nvPicPr>
          <p:cNvPr id="6" name="SFTP enjaulado" descr="SFTP enjaul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852160" cy="3171121"/>
          </a:xfrm>
          <a:prstGeom prst="rect">
            <a:avLst/>
          </a:prstGeom>
        </p:spPr>
      </p:pic>
      <p:sp>
        <p:nvSpPr>
          <p:cNvPr id="7" name="Fondo de código"/>
          <p:cNvSpPr/>
          <p:nvPr/>
        </p:nvSpPr>
        <p:spPr>
          <a:xfrm>
            <a:off x="6675120" y="1371600"/>
            <a:ext cx="498348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0" y="1481328"/>
            <a:ext cx="461772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Group sftp-web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ChrootDirectory /srv/horizonte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ForceCommand internal-sftp -d /www -u 0002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AllowTcpForwarding no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PermitTTY no</a:t>
            </a:r>
            <a:endParaRPr lang="en-US" sz="1200" dirty="0"/>
          </a:p>
        </p:txBody>
      </p:sp>
      <p:sp>
        <p:nvSpPr>
          <p:cNvPr id="9" name="Tarjeta Regla de la jaula"/>
          <p:cNvSpPr/>
          <p:nvPr/>
        </p:nvSpPr>
        <p:spPr>
          <a:xfrm>
            <a:off x="6675120" y="3611880"/>
            <a:ext cx="498348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unto Regla de la jaula"/>
          <p:cNvSpPr/>
          <p:nvPr/>
        </p:nvSpPr>
        <p:spPr>
          <a:xfrm>
            <a:off x="6903720" y="3867912"/>
            <a:ext cx="292608" cy="29260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0" y="37764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Regla de la jaula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949440" y="4297680"/>
            <a:ext cx="4480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 /srv/horizonte escribible por el grupo, sshd cortó: "bad ownership or modes for chroot directory". Debe ser root:root 755.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029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comunicacion: 664 · webadmin · no ve /etc · sin terminal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11 · Túnel local a la API interna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Juniors</a:t>
            </a:r>
            <a:endParaRPr lang="en-US" sz="1300" dirty="0"/>
          </a:p>
        </p:txBody>
      </p:sp>
      <p:sp>
        <p:nvSpPr>
          <p:cNvPr id="6" name="Fondo de código"/>
          <p:cNvSpPr/>
          <p:nvPr/>
        </p:nvSpPr>
        <p:spPr>
          <a:xfrm>
            <a:off x="548640" y="1371600"/>
            <a:ext cx="6035040" cy="19202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481328"/>
            <a:ext cx="56692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PC: curl ─▶ 127.0.0.1:9081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║ túnel SSH cifrado (2222 → 22)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srv-horizonte: sshd ─▶ 127.0.0.1:8081 (API eco)</a:t>
            </a:r>
            <a:endParaRPr lang="en-US" sz="1500" dirty="0"/>
          </a:p>
        </p:txBody>
      </p:sp>
      <p:pic>
        <p:nvPicPr>
          <p:cNvPr id="8" name="curl por el túnel" descr="curl por el tú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520440"/>
            <a:ext cx="6035040" cy="2186026"/>
          </a:xfrm>
          <a:prstGeom prst="rect">
            <a:avLst/>
          </a:prstGeom>
        </p:spPr>
      </p:pic>
      <p:sp>
        <p:nvSpPr>
          <p:cNvPr id="9" name="Tarjeta -L 9081:127.0.0.1:8081"/>
          <p:cNvSpPr/>
          <p:nvPr/>
        </p:nvSpPr>
        <p:spPr>
          <a:xfrm>
            <a:off x="6858000" y="1371600"/>
            <a:ext cx="48006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unto -L 9081:127.0.0.1:8081"/>
          <p:cNvSpPr/>
          <p:nvPr/>
        </p:nvSpPr>
        <p:spPr>
          <a:xfrm>
            <a:off x="7086600" y="1627632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98080" y="153619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-L 9081:127.0.0.1:8081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132320" y="20574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Un puerto de la PC que sale desde el servidor.</a:t>
            </a:r>
            <a:endParaRPr lang="en-US" sz="1400" dirty="0"/>
          </a:p>
        </p:txBody>
      </p:sp>
      <p:sp>
        <p:nvSpPr>
          <p:cNvPr id="13" name="Tarjeta -D 1080 (SOCKS)"/>
          <p:cNvSpPr/>
          <p:nvPr/>
        </p:nvSpPr>
        <p:spPr>
          <a:xfrm>
            <a:off x="6858000" y="3017520"/>
            <a:ext cx="48006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unto -D 1080 (SOCKS)"/>
          <p:cNvSpPr/>
          <p:nvPr/>
        </p:nvSpPr>
        <p:spPr>
          <a:xfrm>
            <a:off x="7086600" y="327355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498080" y="31821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-D 1080 (SOCKS)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7132320" y="37033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Túnel dinámico: navegar como si estuviera en el colegio.</a:t>
            </a:r>
            <a:endParaRPr lang="en-US" sz="1400" dirty="0"/>
          </a:p>
        </p:txBody>
      </p:sp>
      <p:sp>
        <p:nvSpPr>
          <p:cNvPr id="17" name="Tarjeta -J bastión"/>
          <p:cNvSpPr/>
          <p:nvPr/>
        </p:nvSpPr>
        <p:spPr>
          <a:xfrm>
            <a:off x="6858000" y="4663440"/>
            <a:ext cx="48006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Punto -J bastión"/>
          <p:cNvSpPr/>
          <p:nvPr/>
        </p:nvSpPr>
        <p:spPr>
          <a:xfrm>
            <a:off x="7086600" y="491947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498080" y="48280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-J bastión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7132320" y="5349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Llegar a un servidor interno saltando por uno expuesto.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11 · Fuerza bruta: bloqueada en 2 segundos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Limber</a:t>
            </a:r>
            <a:endParaRPr lang="en-US" sz="1300" dirty="0"/>
          </a:p>
        </p:txBody>
      </p:sp>
      <p:sp>
        <p:nvSpPr>
          <p:cNvPr id="6" name="Paso 1"/>
          <p:cNvSpPr/>
          <p:nvPr/>
        </p:nvSpPr>
        <p:spPr>
          <a:xfrm>
            <a:off x="548640" y="1371600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4813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Intentos 1 a 3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Permission denied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423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sshd: Invalid user intruso; fail2ban: Found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069080" y="19202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Paso 2"/>
          <p:cNvSpPr/>
          <p:nvPr/>
        </p:nvSpPr>
        <p:spPr>
          <a:xfrm>
            <a:off x="4343400" y="1371600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17720" y="14813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 172.18.0.3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461772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fail2ban → nftables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617720" y="2423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addr-set-sshd + reject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863840" y="19202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Paso 3"/>
          <p:cNvSpPr/>
          <p:nvPr/>
        </p:nvSpPr>
        <p:spPr>
          <a:xfrm>
            <a:off x="8138160" y="1371600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12480" y="14813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Intentos 4 a 6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841248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Connection refused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0" y="2423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ya no llega a sshd</a:t>
            </a:r>
            <a:endParaRPr lang="en-US" sz="1300" dirty="0"/>
          </a:p>
        </p:txBody>
      </p:sp>
      <p:pic>
        <p:nvPicPr>
          <p:cNvPr id="20" name="Estado de fail2ban y nftables" descr="Estado de fail2ban y nf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5828" y="3291840"/>
            <a:ext cx="4566424" cy="288036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31520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400" dirty="0"/>
          </a:p>
        </p:txBody>
      </p:sp>
      <p:sp>
        <p:nvSpPr>
          <p:cNvPr id="22" name="Text 18"/>
          <p:cNvSpPr txBox="1"/>
          <p:nvPr/>
        </p:nvSpPr>
        <p:spPr>
          <a:xfrm>
            <a:off x="7315200" y="42519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fallas detectadas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955548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24" name="Text 20"/>
          <p:cNvSpPr txBox="1"/>
          <p:nvPr/>
        </p:nvSpPr>
        <p:spPr>
          <a:xfrm>
            <a:off x="9555480" y="42519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bloqueos (Ban)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7315200" y="525780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journalmatch = _SYSTEMD_UNIT=ssh.service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 · fail2ban estaba ciego y no lo sabíamos</a:t>
            </a:r>
            <a:endParaRPr lang="en-US" sz="3000" dirty="0"/>
          </a:p>
        </p:txBody>
      </p:sp>
      <p:sp>
        <p:nvSpPr>
          <p:cNvPr id="4" name="Etiqueta de rol"/>
          <p:cNvSpPr/>
          <p:nvPr/>
        </p:nvSpPr>
        <p:spPr>
          <a:xfrm>
            <a:off x="9281160" y="45720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281160" y="457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Rol: Limber</a:t>
            </a:r>
            <a:endParaRPr lang="en-US" sz="1300" dirty="0"/>
          </a:p>
        </p:txBody>
      </p:sp>
      <p:pic>
        <p:nvPicPr>
          <p:cNvPr id="6" name="/dev/log de syslogd" descr="/dev/log de syslog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669280" cy="2117010"/>
          </a:xfrm>
          <a:prstGeom prst="rect">
            <a:avLst/>
          </a:prstGeom>
        </p:spPr>
      </p:pic>
      <p:pic>
        <p:nvPicPr>
          <p:cNvPr id="7" name="Origen en dpkg.log" descr="Origen en dpkg.l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95" y="3840480"/>
            <a:ext cx="5342970" cy="2331720"/>
          </a:xfrm>
          <a:prstGeom prst="rect">
            <a:avLst/>
          </a:prstGeom>
        </p:spPr>
      </p:pic>
      <p:sp>
        <p:nvSpPr>
          <p:cNvPr id="8" name="Tarjeta Síntoma"/>
          <p:cNvSpPr/>
          <p:nvPr/>
        </p:nvSpPr>
        <p:spPr>
          <a:xfrm>
            <a:off x="6492240" y="1371600"/>
            <a:ext cx="5166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unto Síntoma"/>
          <p:cNvSpPr/>
          <p:nvPr/>
        </p:nvSpPr>
        <p:spPr>
          <a:xfrm>
            <a:off x="6720840" y="1627632"/>
            <a:ext cx="292608" cy="29260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132320" y="153619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Síntoma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6766560" y="20574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El journal no registraba sshd; solo /var/log/auth.log.</a:t>
            </a:r>
            <a:endParaRPr lang="en-US" sz="1400" dirty="0"/>
          </a:p>
        </p:txBody>
      </p:sp>
      <p:sp>
        <p:nvSpPr>
          <p:cNvPr id="12" name="Tarjeta Causa"/>
          <p:cNvSpPr/>
          <p:nvPr/>
        </p:nvSpPr>
        <p:spPr>
          <a:xfrm>
            <a:off x="6492240" y="3017520"/>
            <a:ext cx="5166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unto Causa"/>
          <p:cNvSpPr/>
          <p:nvPr/>
        </p:nvSpPr>
        <p:spPr>
          <a:xfrm>
            <a:off x="6720840" y="32735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132320" y="318211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Causa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6766560" y="37033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inetutils-syslogd llegó con TELNET (Lab 10) y se quedó con /dev/log.</a:t>
            </a:r>
            <a:endParaRPr lang="en-US" sz="1400" dirty="0"/>
          </a:p>
        </p:txBody>
      </p:sp>
      <p:sp>
        <p:nvSpPr>
          <p:cNvPr id="16" name="Tarjeta Solución"/>
          <p:cNvSpPr/>
          <p:nvPr/>
        </p:nvSpPr>
        <p:spPr>
          <a:xfrm>
            <a:off x="6492240" y="4663440"/>
            <a:ext cx="5166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unto Solución"/>
          <p:cNvSpPr/>
          <p:nvPr/>
        </p:nvSpPr>
        <p:spPr>
          <a:xfrm>
            <a:off x="6720840" y="4919472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132320" y="48280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Solución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766560" y="53492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Purgarlo y enlazar /dev/log → journald. Probar, no suponer.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tres verificadores al 100 %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16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Lab 9 · vistas y DNSSEC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343400" y="1280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/ 11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4343400" y="22402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Lab 10 · TELNET vs SSH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1280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/ 15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22402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Lab 11 · SSH endurecido</a:t>
            </a:r>
            <a:endParaRPr lang="en-US" sz="1400" dirty="0"/>
          </a:p>
        </p:txBody>
      </p:sp>
      <p:pic>
        <p:nvPicPr>
          <p:cNvPr id="10" name="verificar_lab10 11 de 11" descr="verificar_lab10 11 de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0"/>
            <a:ext cx="5120640" cy="2263937"/>
          </a:xfrm>
          <a:prstGeom prst="rect">
            <a:avLst/>
          </a:prstGeom>
        </p:spPr>
      </p:pic>
      <p:pic>
        <p:nvPicPr>
          <p:cNvPr id="11" name="verificar_lab11 15 de 15" descr="verificar_lab11 15 de 1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338" y="3200400"/>
            <a:ext cx="4854964" cy="2926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IA y seguridad</a:t>
            </a:r>
            <a:endParaRPr lang="en-US" sz="3000" dirty="0"/>
          </a:p>
        </p:txBody>
      </p:sp>
      <p:sp>
        <p:nvSpPr>
          <p:cNvPr id="4" name="Tarjeta Para qué la usamos"/>
          <p:cNvSpPr/>
          <p:nvPr/>
        </p:nvSpPr>
        <p:spPr>
          <a:xfrm>
            <a:off x="548640" y="1371600"/>
            <a:ext cx="3520440" cy="47548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unto Para qué la usamos"/>
          <p:cNvSpPr/>
          <p:nvPr/>
        </p:nvSpPr>
        <p:spPr>
          <a:xfrm>
            <a:off x="777240" y="162763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88720" y="1536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Para qué la usamos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057400"/>
            <a:ext cx="3017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Explicar sshd_config, fail2ban, vistas, RRSIG y NSEC3.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Interpretar journalctl, delv y Wireshark.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Diagnosticar /dev/log, el serial y la huella cambiada.</a:t>
            </a:r>
            <a:endParaRPr lang="en-US" sz="1400" dirty="0"/>
          </a:p>
        </p:txBody>
      </p:sp>
      <p:sp>
        <p:nvSpPr>
          <p:cNvPr id="8" name="Tarjeta Cómo la verificamos"/>
          <p:cNvSpPr/>
          <p:nvPr/>
        </p:nvSpPr>
        <p:spPr>
          <a:xfrm>
            <a:off x="4343400" y="1371600"/>
            <a:ext cx="3520440" cy="47548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unto Cómo la verificamos"/>
          <p:cNvSpPr/>
          <p:nvPr/>
        </p:nvSpPr>
        <p:spPr>
          <a:xfrm>
            <a:off x="4572000" y="1627632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83480" y="1536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Cómo la verificamos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617720" y="2057400"/>
            <a:ext cx="3017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Cada respuesta con sshd -T, journalctl, ss, dpkg.log, nft, Wireshark o el verificador.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Fuentes oficiales: RFC, man de OpenSSH, ISC.</a:t>
            </a:r>
            <a:endParaRPr lang="en-US" sz="1400" dirty="0"/>
          </a:p>
        </p:txBody>
      </p:sp>
      <p:sp>
        <p:nvSpPr>
          <p:cNvPr id="12" name="Tarjeta Lo que no se hizo"/>
          <p:cNvSpPr/>
          <p:nvPr/>
        </p:nvSpPr>
        <p:spPr>
          <a:xfrm>
            <a:off x="8138160" y="1371600"/>
            <a:ext cx="3520440" cy="47548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unto Lo que no se hizo"/>
          <p:cNvSpPr/>
          <p:nvPr/>
        </p:nvSpPr>
        <p:spPr>
          <a:xfrm>
            <a:off x="8366760" y="1627632"/>
            <a:ext cx="292608" cy="29260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78240" y="1536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Lo que no se hizo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2057400"/>
            <a:ext cx="3017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Pegar claves privadas o .private.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Aceptar huellas sin verificar.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Atacar servidores ajenos o dejar TELNET activo.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para la defensa</a:t>
            </a:r>
            <a:endParaRPr lang="en-US" sz="3000" dirty="0"/>
          </a:p>
        </p:txBody>
      </p:sp>
      <p:graphicFrame>
        <p:nvGraphicFramePr>
          <p:cNvPr id="17" name="Tabla de ro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943600"/>
                <a:gridCol w="21031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Integrante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Qué explica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Diapositivas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Lucas Carrasco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Entorno, vistas y DNSSEC (Lab 9)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2–4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Jacqueline Cáceres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TELNET en claro con Wireshark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José María Orihuela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SSH cifrado, identidad y kex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6–7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Lizeth Rodríguez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Claves ed25519 y sshd endurecido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8–9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Juniors Parapaino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scp, SFTP enjaulado y túnel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10–11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Limber Quispe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fail2ban, ataque y hallazgo /dev/log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12–13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servidor del colegio, accesible solo por SSH endurecido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TELNET demostrado inseguro y desinstalado · solo claves, sin root, AllowGroups · SFTP enjaulado · fail2ban probado con un ataque real</a:t>
            </a:r>
            <a:endParaRPr lang="en-US" sz="2000" dirty="0"/>
          </a:p>
        </p:txBody>
      </p:sp>
      <p:sp>
        <p:nvSpPr>
          <p:cNvPr id="4" name="Text 2">
            <a:hlinkClick r:id="rId1" tooltip=""/>
          </p:cNvPr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Repositorio: github.com/Grupo-Sin-Hosting/Actividad-03-SSH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394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Lección: una medida de seguridad hay que probarla, no suponerla.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SH Horizonte">
  <a:themeElements>
    <a:clrScheme name="SSH Horizonte">
      <a:dk1>
        <a:srgbClr val="1B2430"/>
      </a:dk1>
      <a:lt1>
        <a:srgbClr val="FFFFFF"/>
      </a:lt1>
      <a:dk2>
        <a:srgbClr val="0F2E4C"/>
      </a:dk2>
      <a:lt2>
        <a:srgbClr val="EEF3F9"/>
      </a:lt2>
      <a:accent1>
        <a:srgbClr val="1D4E89"/>
      </a:accent1>
      <a:accent2>
        <a:srgbClr val="C25E0A"/>
      </a:accent2>
      <a:accent3>
        <a:srgbClr val="2E7D32"/>
      </a:accent3>
      <a:accent4>
        <a:srgbClr val="5A6672"/>
      </a:accent4>
      <a:accent5>
        <a:srgbClr val="B8C4D2"/>
      </a:accent5>
      <a:accent6>
        <a:srgbClr val="A33B0B"/>
      </a:accent6>
      <a:hlink>
        <a:srgbClr val="1D4E89"/>
      </a:hlink>
      <a:folHlink>
        <a:srgbClr val="5A6672"/>
      </a:folHlink>
    </a:clrScheme>
    <a:fontScheme name="SSH Horizon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TELNET a SSH endurecido — Actividad 03</dc:title>
  <dc:subject>PptxGenJS Presentation</dc:subject>
  <dc:creator>Grupo Sin Hosting</dc:creator>
  <cp:lastModifiedBy>Grupo Sin Hosting</cp:lastModifiedBy>
  <cp:revision>1</cp:revision>
  <dcterms:created xsi:type="dcterms:W3CDTF">2026-10-25T16:21:27Z</dcterms:created>
  <dcterms:modified xsi:type="dcterms:W3CDTF">2026-10-25T16:21:27Z</dcterms:modified>
</cp:coreProperties>
</file>